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7af18c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7af18c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7af18cc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7af18cc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da88ef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da88ef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71fa68db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71fa68db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a88ef62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da88ef62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a88ef62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da88ef62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71fa68d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71fa68d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1fa68db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71fa68db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71fa68db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71fa68db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da88ef62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da88ef62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71fa68db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71fa68db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da88ef62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da88ef62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71fa68db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71fa68db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da88ef62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da88ef62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d7af18cc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d7af18cc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6c9ce45a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6c9ce45a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d7af18cc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d7af18cc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d7af18cc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bd7af18cc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d7af18ccc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d7af18ccc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d7af18cc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d7af18cc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d7af18cc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d7af18cc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6c9ce45a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6c9ce45a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7af18cc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d7af18cc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85200"/>
            <a:ext cx="8520600" cy="205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</a:rPr>
              <a:t>BlueAlpha Data Pipeline</a:t>
            </a:r>
            <a:endParaRPr b="1">
              <a:solidFill>
                <a:srgbClr val="1155CC"/>
              </a:solidFill>
            </a:endParaRPr>
          </a:p>
        </p:txBody>
      </p:sp>
      <p:pic>
        <p:nvPicPr>
          <p:cNvPr id="55" name="Google Shape;55;p13" title="截屏2026-02-08 14.31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09750"/>
            <a:ext cx="1851066" cy="7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Project Overview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Mission</a:t>
            </a:r>
            <a:r>
              <a:rPr lang="en" sz="1400">
                <a:solidFill>
                  <a:schemeClr val="dk1"/>
                </a:solidFill>
              </a:rPr>
              <a:t>: Transform fragmented, multi-source marketing data into a centralized "Single Source of Truth" for ROI optimization.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Tech Stack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Orchestration</a:t>
            </a:r>
            <a:r>
              <a:rPr lang="en" sz="1400">
                <a:solidFill>
                  <a:schemeClr val="dk1"/>
                </a:solidFill>
              </a:rPr>
              <a:t>: Apache Airflow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Infrastructure</a:t>
            </a:r>
            <a:r>
              <a:rPr lang="en" sz="1400">
                <a:solidFill>
                  <a:schemeClr val="dk1"/>
                </a:solidFill>
              </a:rPr>
              <a:t>: Docker (Containerized environment)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Ingestion</a:t>
            </a:r>
            <a:r>
              <a:rPr lang="en" sz="1400">
                <a:solidFill>
                  <a:schemeClr val="dk1"/>
                </a:solidFill>
              </a:rPr>
              <a:t>: Python (SQLAlchemy / Pandas)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Storage</a:t>
            </a:r>
            <a:r>
              <a:rPr lang="en" sz="1400">
                <a:solidFill>
                  <a:schemeClr val="dk1"/>
                </a:solidFill>
              </a:rPr>
              <a:t>: PostgreSQL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Transformation</a:t>
            </a:r>
            <a:r>
              <a:rPr lang="en" sz="1400">
                <a:solidFill>
                  <a:schemeClr val="dk1"/>
                </a:solidFill>
              </a:rPr>
              <a:t>: dbt (Data Build Tool)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Key Outcome</a:t>
            </a:r>
            <a:r>
              <a:rPr lang="en" sz="1400">
                <a:solidFill>
                  <a:schemeClr val="dk1"/>
                </a:solidFill>
              </a:rPr>
              <a:t>: Eliminated manual data silos and implemented an automated, analysis-ready marketing mart.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Pipeline Architecture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67" name="Google Shape;67;p15" title="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25" y="973058"/>
            <a:ext cx="7375124" cy="387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014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1155CC"/>
                </a:solidFill>
              </a:rPr>
              <a:t>Ingestion Layer: Turning Raw Chaos into Structured Data</a:t>
            </a:r>
            <a:endParaRPr b="1" sz="3420">
              <a:solidFill>
                <a:srgbClr val="1155CC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372650" y="2322600"/>
            <a:ext cx="45573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Handling </a:t>
            </a:r>
            <a:r>
              <a:rPr lang="en" sz="2200">
                <a:solidFill>
                  <a:schemeClr val="dk1"/>
                </a:solidFill>
              </a:rPr>
              <a:t>Column Overflow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Normalization &amp; Consistency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Transfer CSV/Json to SQL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4594562" y="3003861"/>
            <a:ext cx="4237800" cy="1602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79" name="Google Shape;79;p17"/>
          <p:cNvSpPr/>
          <p:nvPr/>
        </p:nvSpPr>
        <p:spPr>
          <a:xfrm>
            <a:off x="311637" y="3003873"/>
            <a:ext cx="4237800" cy="1602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80" name="Google Shape;80;p17"/>
          <p:cNvSpPr/>
          <p:nvPr/>
        </p:nvSpPr>
        <p:spPr>
          <a:xfrm>
            <a:off x="4594562" y="1343525"/>
            <a:ext cx="4237800" cy="16023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81" name="Google Shape;81;p17"/>
          <p:cNvSpPr/>
          <p:nvPr/>
        </p:nvSpPr>
        <p:spPr>
          <a:xfrm>
            <a:off x="311637" y="1343525"/>
            <a:ext cx="4237800" cy="1602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Ingestion Layer - </a:t>
            </a:r>
            <a:r>
              <a:rPr lang="en">
                <a:solidFill>
                  <a:srgbClr val="1155CC"/>
                </a:solidFill>
              </a:rPr>
              <a:t>Problems &amp; Solutions</a:t>
            </a:r>
            <a:endParaRPr>
              <a:solidFill>
                <a:srgbClr val="1155CC"/>
              </a:solidFill>
            </a:endParaRPr>
          </a:p>
        </p:txBody>
      </p:sp>
      <p:grpSp>
        <p:nvGrpSpPr>
          <p:cNvPr id="83" name="Google Shape;83;p17"/>
          <p:cNvGrpSpPr/>
          <p:nvPr/>
        </p:nvGrpSpPr>
        <p:grpSpPr>
          <a:xfrm>
            <a:off x="444377" y="1757999"/>
            <a:ext cx="3709812" cy="328810"/>
            <a:chOff x="199075" y="1017725"/>
            <a:chExt cx="8839199" cy="568875"/>
          </a:xfrm>
        </p:grpSpPr>
        <p:pic>
          <p:nvPicPr>
            <p:cNvPr id="84" name="Google Shape;84;p17" title="截屏2026-02-10 20.37.18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075" y="1017725"/>
              <a:ext cx="8839199" cy="289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17" title="截屏2026-02-10 20.37.33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9075" y="1307000"/>
              <a:ext cx="8822452" cy="279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p17" title="截屏2026-02-10 00.30.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440" y="3485527"/>
            <a:ext cx="3729671" cy="5079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444383" y="3433560"/>
            <a:ext cx="1293300" cy="646800"/>
          </a:xfrm>
          <a:prstGeom prst="rect">
            <a:avLst/>
          </a:prstGeom>
          <a:noFill/>
          <a:ln cap="flat" cmpd="sng" w="18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88" name="Google Shape;88;p17"/>
          <p:cNvSpPr/>
          <p:nvPr/>
        </p:nvSpPr>
        <p:spPr>
          <a:xfrm>
            <a:off x="3166628" y="3433560"/>
            <a:ext cx="1065531" cy="646713"/>
          </a:xfrm>
          <a:prstGeom prst="rect">
            <a:avLst/>
          </a:prstGeom>
          <a:noFill/>
          <a:ln cap="flat" cmpd="sng" w="183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pic>
        <p:nvPicPr>
          <p:cNvPr id="89" name="Google Shape;89;p17" title="截屏2026-02-10 00.31.36.png"/>
          <p:cNvPicPr preferRelativeResize="0"/>
          <p:nvPr/>
        </p:nvPicPr>
        <p:blipFill rotWithShape="1">
          <a:blip r:embed="rId6">
            <a:alphaModFix/>
          </a:blip>
          <a:srcRect b="0" l="5446" r="0" t="0"/>
          <a:stretch/>
        </p:blipFill>
        <p:spPr>
          <a:xfrm>
            <a:off x="4949716" y="3529732"/>
            <a:ext cx="3527352" cy="50787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4862947" y="3433480"/>
            <a:ext cx="1148700" cy="646800"/>
          </a:xfrm>
          <a:prstGeom prst="rect">
            <a:avLst/>
          </a:prstGeom>
          <a:noFill/>
          <a:ln cap="flat" cmpd="sng" w="183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91" name="Google Shape;91;p17"/>
          <p:cNvSpPr/>
          <p:nvPr/>
        </p:nvSpPr>
        <p:spPr>
          <a:xfrm>
            <a:off x="7284789" y="3433480"/>
            <a:ext cx="1293300" cy="646800"/>
          </a:xfrm>
          <a:prstGeom prst="rect">
            <a:avLst/>
          </a:prstGeom>
          <a:noFill/>
          <a:ln cap="flat" cmpd="sng" w="183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grpSp>
        <p:nvGrpSpPr>
          <p:cNvPr id="92" name="Google Shape;92;p17"/>
          <p:cNvGrpSpPr/>
          <p:nvPr/>
        </p:nvGrpSpPr>
        <p:grpSpPr>
          <a:xfrm>
            <a:off x="4863153" y="1600551"/>
            <a:ext cx="3858128" cy="1204458"/>
            <a:chOff x="4897825" y="1173005"/>
            <a:chExt cx="4007196" cy="1250995"/>
          </a:xfrm>
        </p:grpSpPr>
        <p:pic>
          <p:nvPicPr>
            <p:cNvPr id="93" name="Google Shape;93;p17" title="截屏2026-02-08 22.36.49_副本.png"/>
            <p:cNvPicPr preferRelativeResize="0"/>
            <p:nvPr/>
          </p:nvPicPr>
          <p:blipFill rotWithShape="1">
            <a:blip r:embed="rId7">
              <a:alphaModFix/>
            </a:blip>
            <a:srcRect b="0" l="5593" r="11904" t="0"/>
            <a:stretch/>
          </p:blipFill>
          <p:spPr>
            <a:xfrm>
              <a:off x="4897825" y="2047874"/>
              <a:ext cx="4007196" cy="376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7" title="截屏2026-02-09 18.10.41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042631" y="1173005"/>
              <a:ext cx="3506026" cy="570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7"/>
            <p:cNvSpPr/>
            <p:nvPr/>
          </p:nvSpPr>
          <p:spPr>
            <a:xfrm>
              <a:off x="5086261" y="1546207"/>
              <a:ext cx="828995" cy="197457"/>
            </a:xfrm>
            <a:prstGeom prst="rect">
              <a:avLst/>
            </a:prstGeom>
            <a:noFill/>
            <a:ln cap="flat" cmpd="sng" w="8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25" lIns="79825" spcFirstLastPara="1" rIns="79825" wrap="square" tIns="79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/>
            </a:p>
          </p:txBody>
        </p:sp>
        <p:cxnSp>
          <p:nvCxnSpPr>
            <p:cNvPr id="96" name="Google Shape;96;p17"/>
            <p:cNvCxnSpPr>
              <a:stCxn id="95" idx="2"/>
            </p:cNvCxnSpPr>
            <p:nvPr/>
          </p:nvCxnSpPr>
          <p:spPr>
            <a:xfrm>
              <a:off x="5500759" y="1743664"/>
              <a:ext cx="324600" cy="321900"/>
            </a:xfrm>
            <a:prstGeom prst="straightConnector1">
              <a:avLst/>
            </a:prstGeom>
            <a:noFill/>
            <a:ln cap="flat" cmpd="sng" w="83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7" name="Google Shape;97;p17"/>
            <p:cNvSpPr/>
            <p:nvPr/>
          </p:nvSpPr>
          <p:spPr>
            <a:xfrm>
              <a:off x="7839606" y="1546207"/>
              <a:ext cx="709052" cy="197457"/>
            </a:xfrm>
            <a:prstGeom prst="rect">
              <a:avLst/>
            </a:prstGeom>
            <a:noFill/>
            <a:ln cap="flat" cmpd="sng" w="8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9825" lIns="79825" spcFirstLastPara="1" rIns="79825" wrap="square" tIns="79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21"/>
            </a:p>
          </p:txBody>
        </p:sp>
        <p:cxnSp>
          <p:nvCxnSpPr>
            <p:cNvPr id="98" name="Google Shape;98;p17"/>
            <p:cNvCxnSpPr/>
            <p:nvPr/>
          </p:nvCxnSpPr>
          <p:spPr>
            <a:xfrm>
              <a:off x="8213170" y="1749897"/>
              <a:ext cx="389400" cy="265500"/>
            </a:xfrm>
            <a:prstGeom prst="straightConnector1">
              <a:avLst/>
            </a:prstGeom>
            <a:noFill/>
            <a:ln cap="flat" cmpd="sng" w="83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9" name="Google Shape;99;p17"/>
          <p:cNvSpPr txBox="1"/>
          <p:nvPr/>
        </p:nvSpPr>
        <p:spPr>
          <a:xfrm>
            <a:off x="1356838" y="1017725"/>
            <a:ext cx="1884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Problems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770938" y="1017725"/>
            <a:ext cx="1884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Solutions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Ingestion Layer - </a:t>
            </a:r>
            <a:r>
              <a:rPr lang="en">
                <a:solidFill>
                  <a:srgbClr val="1155CC"/>
                </a:solidFill>
              </a:rPr>
              <a:t>Transfer CSV/Json to SQL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171325" y="1152475"/>
            <a:ext cx="8661000" cy="17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Strategy: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Hybrid Ingestion</a:t>
            </a:r>
            <a:r>
              <a:rPr lang="en" sz="1400">
                <a:solidFill>
                  <a:schemeClr val="dk1"/>
                </a:solidFill>
              </a:rPr>
              <a:t>: Utilized SQLAlchemy and Pandas to orchestrate loading from both flat CSVs (Facebook/CRM) and nested JSON (Google Ads).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Idempotent Execution</a:t>
            </a:r>
            <a:r>
              <a:rPr lang="en" sz="1400">
                <a:solidFill>
                  <a:schemeClr val="dk1"/>
                </a:solidFill>
              </a:rPr>
              <a:t>: Leveraged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if_exists='replace'</a:t>
            </a:r>
            <a:r>
              <a:rPr lang="en" sz="1400">
                <a:solidFill>
                  <a:schemeClr val="dk1"/>
                </a:solidFill>
              </a:rPr>
              <a:t> within the pipeline to ensure a consistent data state during every scheduled run.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2047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1155CC"/>
                </a:solidFill>
              </a:rPr>
              <a:t>Transformation Layer(dbt)</a:t>
            </a:r>
            <a:endParaRPr b="1" sz="342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Transformation Layer(dbt)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17" name="Google Shape;117;p20" title="data_flow.png"/>
          <p:cNvPicPr preferRelativeResize="0"/>
          <p:nvPr/>
        </p:nvPicPr>
        <p:blipFill rotWithShape="1">
          <a:blip r:embed="rId3">
            <a:alphaModFix/>
          </a:blip>
          <a:srcRect b="0" l="11971" r="0" t="0"/>
          <a:stretch/>
        </p:blipFill>
        <p:spPr>
          <a:xfrm>
            <a:off x="202550" y="1427275"/>
            <a:ext cx="8738898" cy="27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Cleansed Layer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23" name="Google Shape;123;p21" title="data_flow.png"/>
          <p:cNvPicPr preferRelativeResize="0"/>
          <p:nvPr/>
        </p:nvPicPr>
        <p:blipFill rotWithShape="1">
          <a:blip r:embed="rId3">
            <a:alphaModFix/>
          </a:blip>
          <a:srcRect b="0" l="11971" r="0" t="0"/>
          <a:stretch/>
        </p:blipFill>
        <p:spPr>
          <a:xfrm>
            <a:off x="202550" y="1427275"/>
            <a:ext cx="8738898" cy="27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1147900" y="1427275"/>
            <a:ext cx="2070600" cy="253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4594550" y="1343525"/>
            <a:ext cx="4237800" cy="11964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130" name="Google Shape;130;p22"/>
          <p:cNvSpPr/>
          <p:nvPr/>
        </p:nvSpPr>
        <p:spPr>
          <a:xfrm>
            <a:off x="311625" y="1343525"/>
            <a:ext cx="4237800" cy="1196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88025" lIns="88025" spcFirstLastPara="1" rIns="88025" wrap="square" tIns="88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7"/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Ingestion Layer - Problems &amp; Solutions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356838" y="1017725"/>
            <a:ext cx="1884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Problems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5770938" y="1017725"/>
            <a:ext cx="1884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Solutions</a:t>
            </a:r>
            <a:endParaRPr sz="1800">
              <a:solidFill>
                <a:srgbClr val="FF9900"/>
              </a:solidFill>
            </a:endParaRPr>
          </a:p>
        </p:txBody>
      </p:sp>
      <p:pic>
        <p:nvPicPr>
          <p:cNvPr id="134" name="Google Shape;134;p22" title="截屏2026-02-08 22.46.25.png"/>
          <p:cNvPicPr preferRelativeResize="0"/>
          <p:nvPr/>
        </p:nvPicPr>
        <p:blipFill rotWithShape="1">
          <a:blip r:embed="rId3">
            <a:alphaModFix/>
          </a:blip>
          <a:srcRect b="7088" l="5024" r="59313" t="2846"/>
          <a:stretch/>
        </p:blipFill>
        <p:spPr>
          <a:xfrm>
            <a:off x="1271300" y="1595125"/>
            <a:ext cx="1884901" cy="66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22"/>
          <p:cNvGrpSpPr/>
          <p:nvPr/>
        </p:nvGrpSpPr>
        <p:grpSpPr>
          <a:xfrm>
            <a:off x="5299675" y="1595125"/>
            <a:ext cx="2827448" cy="674125"/>
            <a:chOff x="4717300" y="1595125"/>
            <a:chExt cx="2827448" cy="674125"/>
          </a:xfrm>
        </p:grpSpPr>
        <p:pic>
          <p:nvPicPr>
            <p:cNvPr id="136" name="Google Shape;136;p22" title="截屏2026-02-08 22.46.25.png"/>
            <p:cNvPicPr preferRelativeResize="0"/>
            <p:nvPr/>
          </p:nvPicPr>
          <p:blipFill rotWithShape="1">
            <a:blip r:embed="rId3">
              <a:alphaModFix/>
            </a:blip>
            <a:srcRect b="5438" l="86538" r="0" t="2843"/>
            <a:stretch/>
          </p:blipFill>
          <p:spPr>
            <a:xfrm>
              <a:off x="6833275" y="1595125"/>
              <a:ext cx="711473" cy="674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2" title="截屏2026-02-08 22.46.25.png"/>
            <p:cNvPicPr preferRelativeResize="0"/>
            <p:nvPr/>
          </p:nvPicPr>
          <p:blipFill rotWithShape="1">
            <a:blip r:embed="rId3">
              <a:alphaModFix/>
            </a:blip>
            <a:srcRect b="5448" l="0" r="59392" t="4493"/>
            <a:stretch/>
          </p:blipFill>
          <p:spPr>
            <a:xfrm>
              <a:off x="4717300" y="1607300"/>
              <a:ext cx="2146300" cy="661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2"/>
          <p:cNvSpPr/>
          <p:nvPr/>
        </p:nvSpPr>
        <p:spPr>
          <a:xfrm>
            <a:off x="2584150" y="1522750"/>
            <a:ext cx="657600" cy="837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7402925" y="1491875"/>
            <a:ext cx="776100" cy="837900"/>
          </a:xfrm>
          <a:prstGeom prst="rect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2"/>
          <p:cNvGrpSpPr/>
          <p:nvPr/>
        </p:nvGrpSpPr>
        <p:grpSpPr>
          <a:xfrm>
            <a:off x="311625" y="3799965"/>
            <a:ext cx="8520725" cy="1196409"/>
            <a:chOff x="311625" y="2583390"/>
            <a:chExt cx="8520725" cy="1196409"/>
          </a:xfrm>
        </p:grpSpPr>
        <p:sp>
          <p:nvSpPr>
            <p:cNvPr id="141" name="Google Shape;141;p22"/>
            <p:cNvSpPr/>
            <p:nvPr/>
          </p:nvSpPr>
          <p:spPr>
            <a:xfrm>
              <a:off x="4594550" y="2583390"/>
              <a:ext cx="4237800" cy="1196400"/>
            </a:xfrm>
            <a:prstGeom prst="rect">
              <a:avLst/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88025" lIns="88025" spcFirstLastPara="1" rIns="88025" wrap="square" tIns="88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7"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311625" y="2583399"/>
              <a:ext cx="4237800" cy="11964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88025" lIns="88025" spcFirstLastPara="1" rIns="88025" wrap="square" tIns="88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7"/>
            </a:p>
          </p:txBody>
        </p:sp>
        <p:pic>
          <p:nvPicPr>
            <p:cNvPr id="143" name="Google Shape;143;p22" title="截屏2026-02-10 10.54.00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38750" y="2847145"/>
              <a:ext cx="1950001" cy="661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22"/>
            <p:cNvSpPr/>
            <p:nvPr/>
          </p:nvSpPr>
          <p:spPr>
            <a:xfrm>
              <a:off x="2274879" y="2814088"/>
              <a:ext cx="473700" cy="7350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400" lIns="53400" spcFirstLastPara="1" rIns="53400" wrap="square" tIns="534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17"/>
            </a:p>
          </p:txBody>
        </p:sp>
        <p:sp>
          <p:nvSpPr>
            <p:cNvPr id="145" name="Google Shape;145;p22"/>
            <p:cNvSpPr txBox="1"/>
            <p:nvPr/>
          </p:nvSpPr>
          <p:spPr>
            <a:xfrm>
              <a:off x="6813660" y="3229195"/>
              <a:ext cx="211200" cy="2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6650" lIns="56650" spcFirstLastPara="1" rIns="56650" wrap="square" tIns="56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5">
                <a:solidFill>
                  <a:srgbClr val="0000FF"/>
                </a:solidFill>
              </a:endParaRPr>
            </a:p>
          </p:txBody>
        </p:sp>
        <p:grpSp>
          <p:nvGrpSpPr>
            <p:cNvPr id="146" name="Google Shape;146;p22"/>
            <p:cNvGrpSpPr/>
            <p:nvPr/>
          </p:nvGrpSpPr>
          <p:grpSpPr>
            <a:xfrm>
              <a:off x="5518650" y="2830625"/>
              <a:ext cx="2389613" cy="701950"/>
              <a:chOff x="5560712" y="2847150"/>
              <a:chExt cx="2389613" cy="701950"/>
            </a:xfrm>
          </p:grpSpPr>
          <p:pic>
            <p:nvPicPr>
              <p:cNvPr id="147" name="Google Shape;147;p22" title="截屏2026-02-10 10.59.00.png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560712" y="2847150"/>
                <a:ext cx="2389613" cy="701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8" name="Google Shape;148;p22"/>
              <p:cNvSpPr/>
              <p:nvPr/>
            </p:nvSpPr>
            <p:spPr>
              <a:xfrm>
                <a:off x="6813660" y="3302048"/>
                <a:ext cx="123600" cy="142800"/>
              </a:xfrm>
              <a:prstGeom prst="mathDivide">
                <a:avLst>
                  <a:gd fmla="val 23520" name="adj1"/>
                  <a:gd fmla="val 5880" name="adj2"/>
                  <a:gd fmla="val 11760" name="adj3"/>
                </a:avLst>
              </a:prstGeom>
              <a:solidFill>
                <a:schemeClr val="accent1"/>
              </a:solidFill>
              <a:ln cap="flat" cmpd="sng" w="59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650" lIns="56650" spcFirstLastPara="1" rIns="56650" wrap="square" tIns="566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67"/>
              </a:p>
            </p:txBody>
          </p:sp>
          <p:sp>
            <p:nvSpPr>
              <p:cNvPr id="149" name="Google Shape;149;p22"/>
              <p:cNvSpPr/>
              <p:nvPr/>
            </p:nvSpPr>
            <p:spPr>
              <a:xfrm>
                <a:off x="7521759" y="3299910"/>
                <a:ext cx="123600" cy="147300"/>
              </a:xfrm>
              <a:prstGeom prst="mathEqual">
                <a:avLst>
                  <a:gd fmla="val 23520" name="adj1"/>
                  <a:gd fmla="val 11760" name="adj2"/>
                </a:avLst>
              </a:prstGeom>
              <a:solidFill>
                <a:schemeClr val="accent1"/>
              </a:solidFill>
              <a:ln cap="flat" cmpd="sng" w="59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6650" lIns="56650" spcFirstLastPara="1" rIns="56650" wrap="square" tIns="566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67"/>
              </a:p>
            </p:txBody>
          </p:sp>
        </p:grpSp>
        <p:sp>
          <p:nvSpPr>
            <p:cNvPr id="150" name="Google Shape;150;p22"/>
            <p:cNvSpPr/>
            <p:nvPr/>
          </p:nvSpPr>
          <p:spPr>
            <a:xfrm>
              <a:off x="5503100" y="3266925"/>
              <a:ext cx="2540100" cy="193800"/>
            </a:xfrm>
            <a:prstGeom prst="rect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6650" lIns="56650" spcFirstLastPara="1" rIns="56650" wrap="square" tIns="56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7"/>
            </a:p>
          </p:txBody>
        </p:sp>
      </p:grpSp>
      <p:grpSp>
        <p:nvGrpSpPr>
          <p:cNvPr id="151" name="Google Shape;151;p22"/>
          <p:cNvGrpSpPr/>
          <p:nvPr/>
        </p:nvGrpSpPr>
        <p:grpSpPr>
          <a:xfrm>
            <a:off x="311625" y="2571740"/>
            <a:ext cx="8520725" cy="1196409"/>
            <a:chOff x="311638" y="3823265"/>
            <a:chExt cx="8520725" cy="1196409"/>
          </a:xfrm>
        </p:grpSpPr>
        <p:sp>
          <p:nvSpPr>
            <p:cNvPr id="152" name="Google Shape;152;p22"/>
            <p:cNvSpPr/>
            <p:nvPr/>
          </p:nvSpPr>
          <p:spPr>
            <a:xfrm>
              <a:off x="4594562" y="3823265"/>
              <a:ext cx="4237800" cy="1196400"/>
            </a:xfrm>
            <a:prstGeom prst="rect">
              <a:avLst/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88025" lIns="88025" spcFirstLastPara="1" rIns="88025" wrap="square" tIns="88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7"/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311638" y="3823274"/>
              <a:ext cx="4237800" cy="11964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88025" lIns="88025" spcFirstLastPara="1" rIns="88025" wrap="square" tIns="880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7"/>
            </a:p>
          </p:txBody>
        </p:sp>
        <p:pic>
          <p:nvPicPr>
            <p:cNvPr id="154" name="Google Shape;154;p22" title="截屏2026-02-09 13.15.56.png"/>
            <p:cNvPicPr preferRelativeResize="0"/>
            <p:nvPr/>
          </p:nvPicPr>
          <p:blipFill rotWithShape="1">
            <a:blip r:embed="rId6">
              <a:alphaModFix/>
            </a:blip>
            <a:srcRect b="10120" l="0" r="1136" t="0"/>
            <a:stretch/>
          </p:blipFill>
          <p:spPr>
            <a:xfrm>
              <a:off x="586700" y="4209600"/>
              <a:ext cx="3386173" cy="275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22"/>
            <p:cNvSpPr/>
            <p:nvPr/>
          </p:nvSpPr>
          <p:spPr>
            <a:xfrm>
              <a:off x="2633020" y="4161775"/>
              <a:ext cx="485700" cy="4023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775" lIns="37775" spcFirstLastPara="1" rIns="37775" wrap="square" tIns="37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78"/>
            </a:p>
          </p:txBody>
        </p:sp>
        <p:pic>
          <p:nvPicPr>
            <p:cNvPr id="156" name="Google Shape;156;p22" title="截屏2026-02-09 13.20.01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104087" y="4185444"/>
              <a:ext cx="3338145" cy="2998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2"/>
            <p:cNvSpPr/>
            <p:nvPr/>
          </p:nvSpPr>
          <p:spPr>
            <a:xfrm>
              <a:off x="7056928" y="4134175"/>
              <a:ext cx="486000" cy="402300"/>
            </a:xfrm>
            <a:prstGeom prst="rect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775" lIns="37775" spcFirstLastPara="1" rIns="37775" wrap="square" tIns="37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78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Cleansed Layer: FaceBook Purchases Missing Values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11700" y="2983100"/>
            <a:ext cx="8520600" cy="15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Issue: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Facebook reports show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purchase_value</a:t>
            </a:r>
            <a:r>
              <a:rPr lang="en" sz="1400">
                <a:solidFill>
                  <a:schemeClr val="dk1"/>
                </a:solidFill>
              </a:rPr>
              <a:t> but NULL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purchases</a:t>
            </a:r>
            <a:r>
              <a:rPr lang="en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Solution: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Derived </a:t>
            </a:r>
            <a:r>
              <a:rPr lang="en" sz="1400">
                <a:solidFill>
                  <a:schemeClr val="dk1"/>
                </a:solidFill>
              </a:rPr>
              <a:t>unit price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rgbClr val="0000FF"/>
                </a:solidFill>
              </a:rPr>
              <a:t>(purchase_value / purchases(not null))</a:t>
            </a:r>
            <a:r>
              <a:rPr lang="en" sz="1400">
                <a:solidFill>
                  <a:schemeClr val="dk1"/>
                </a:solidFill>
              </a:rPr>
              <a:t> at the campaign level to reverse-calculate missing purchase counts in the dbt cleansed layer.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Value: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Eliminates data gaps to ensure precise CPA (Cost Per Acquisition) reporting.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64" name="Google Shape;164;p23" title="截屏2026-02-10 10.54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25" y="1074300"/>
            <a:ext cx="3337875" cy="11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/>
          <p:nvPr/>
        </p:nvSpPr>
        <p:spPr>
          <a:xfrm>
            <a:off x="2165500" y="1017714"/>
            <a:ext cx="810900" cy="125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3" title="截屏2026-02-10 10.59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995" y="1080271"/>
            <a:ext cx="3857354" cy="11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/>
          <p:nvPr/>
        </p:nvSpPr>
        <p:spPr>
          <a:xfrm>
            <a:off x="4191000" y="1814575"/>
            <a:ext cx="4100400" cy="230700"/>
          </a:xfrm>
          <a:prstGeom prst="rect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3"/>
          <p:cNvCxnSpPr>
            <a:stCxn id="164" idx="3"/>
            <a:endCxn id="166" idx="1"/>
          </p:cNvCxnSpPr>
          <p:nvPr/>
        </p:nvCxnSpPr>
        <p:spPr>
          <a:xfrm>
            <a:off x="3729800" y="1640850"/>
            <a:ext cx="554100" cy="6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3"/>
          <p:cNvSpPr txBox="1"/>
          <p:nvPr/>
        </p:nvSpPr>
        <p:spPr>
          <a:xfrm>
            <a:off x="6306525" y="1696975"/>
            <a:ext cx="341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6306525" y="1814575"/>
            <a:ext cx="199500" cy="230700"/>
          </a:xfrm>
          <a:prstGeom prst="mathDivide">
            <a:avLst>
              <a:gd fmla="val 23520" name="adj1"/>
              <a:gd fmla="val 5880" name="adj2"/>
              <a:gd fmla="val 11760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>
            <a:off x="7449550" y="1811125"/>
            <a:ext cx="199500" cy="237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23"/>
          <p:cNvCxnSpPr>
            <a:stCxn id="167" idx="3"/>
          </p:cNvCxnSpPr>
          <p:nvPr/>
        </p:nvCxnSpPr>
        <p:spPr>
          <a:xfrm flipH="1">
            <a:off x="4872000" y="1929925"/>
            <a:ext cx="3419400" cy="949500"/>
          </a:xfrm>
          <a:prstGeom prst="bentConnector3">
            <a:avLst>
              <a:gd fmla="val -6964" name="adj1"/>
            </a:avLst>
          </a:prstGeom>
          <a:noFill/>
          <a:ln cap="flat" cmpd="sng" w="9525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3"/>
          <p:cNvCxnSpPr/>
          <p:nvPr/>
        </p:nvCxnSpPr>
        <p:spPr>
          <a:xfrm rot="10800000">
            <a:off x="4893875" y="2058150"/>
            <a:ext cx="0" cy="8322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Intermediate</a:t>
            </a:r>
            <a:r>
              <a:rPr lang="en">
                <a:solidFill>
                  <a:srgbClr val="1155CC"/>
                </a:solidFill>
              </a:rPr>
              <a:t> Layer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79" name="Google Shape;179;p24" title="data_flow.png"/>
          <p:cNvPicPr preferRelativeResize="0"/>
          <p:nvPr/>
        </p:nvPicPr>
        <p:blipFill rotWithShape="1">
          <a:blip r:embed="rId3">
            <a:alphaModFix/>
          </a:blip>
          <a:srcRect b="0" l="11971" r="0" t="0"/>
          <a:stretch/>
        </p:blipFill>
        <p:spPr>
          <a:xfrm>
            <a:off x="202550" y="1427275"/>
            <a:ext cx="8738898" cy="27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/>
          <p:nvPr/>
        </p:nvSpPr>
        <p:spPr>
          <a:xfrm>
            <a:off x="3328725" y="1427400"/>
            <a:ext cx="1052700" cy="2743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Intermediate</a:t>
            </a:r>
            <a:r>
              <a:rPr lang="en">
                <a:solidFill>
                  <a:srgbClr val="1155CC"/>
                </a:solidFill>
              </a:rPr>
              <a:t> Layer 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3048000"/>
            <a:ext cx="8520600" cy="17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Standardized Multi-Source Grain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Unified Dimensions</a:t>
            </a:r>
            <a:r>
              <a:rPr lang="en" sz="1200">
                <a:solidFill>
                  <a:schemeClr val="dk1"/>
                </a:solidFill>
              </a:rPr>
              <a:t>: Both Ads and CRM data are aligned to a single, consistent grain: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campaign_id</a:t>
            </a:r>
            <a:r>
              <a:rPr lang="en" sz="1200">
                <a:solidFill>
                  <a:schemeClr val="dk1"/>
                </a:solidFill>
              </a:rPr>
              <a:t>, and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platform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Cross-Source Joinability</a:t>
            </a:r>
            <a:r>
              <a:rPr lang="en" sz="1200">
                <a:solidFill>
                  <a:schemeClr val="dk1"/>
                </a:solidFill>
              </a:rPr>
              <a:t>: This alignment enables seamless downstream joining between ad spend (platform-side) and realized revenue (CRM-side) for ROI analysis.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87" name="Google Shape;187;p25" title="截屏2026-02-10 11.17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200" y="1340593"/>
            <a:ext cx="3450949" cy="17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/>
          <p:nvPr/>
        </p:nvSpPr>
        <p:spPr>
          <a:xfrm>
            <a:off x="701834" y="1559068"/>
            <a:ext cx="1052700" cy="12885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Cleansed</a:t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7130711" y="1559068"/>
            <a:ext cx="1052700" cy="1288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Marts</a:t>
            </a:r>
            <a:endParaRPr/>
          </a:p>
        </p:txBody>
      </p:sp>
      <p:cxnSp>
        <p:nvCxnSpPr>
          <p:cNvPr id="190" name="Google Shape;190;p25"/>
          <p:cNvCxnSpPr/>
          <p:nvPr/>
        </p:nvCxnSpPr>
        <p:spPr>
          <a:xfrm>
            <a:off x="1834757" y="2203318"/>
            <a:ext cx="862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5"/>
          <p:cNvCxnSpPr/>
          <p:nvPr/>
        </p:nvCxnSpPr>
        <p:spPr>
          <a:xfrm>
            <a:off x="6218211" y="2203318"/>
            <a:ext cx="862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5"/>
          <p:cNvSpPr/>
          <p:nvPr/>
        </p:nvSpPr>
        <p:spPr>
          <a:xfrm>
            <a:off x="2737175" y="1313455"/>
            <a:ext cx="3414900" cy="1654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2837450" y="922316"/>
            <a:ext cx="2456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Intermediate Layer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Marts</a:t>
            </a:r>
            <a:r>
              <a:rPr lang="en">
                <a:solidFill>
                  <a:srgbClr val="1155CC"/>
                </a:solidFill>
              </a:rPr>
              <a:t> Layer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199" name="Google Shape;199;p26" title="data_flow.png"/>
          <p:cNvPicPr preferRelativeResize="0"/>
          <p:nvPr/>
        </p:nvPicPr>
        <p:blipFill rotWithShape="1">
          <a:blip r:embed="rId3">
            <a:alphaModFix/>
          </a:blip>
          <a:srcRect b="0" l="11971" r="0" t="0"/>
          <a:stretch/>
        </p:blipFill>
        <p:spPr>
          <a:xfrm>
            <a:off x="202550" y="1427275"/>
            <a:ext cx="8738898" cy="274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/>
          <p:nvPr/>
        </p:nvSpPr>
        <p:spPr>
          <a:xfrm>
            <a:off x="4351400" y="1427225"/>
            <a:ext cx="4590000" cy="2743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Marts</a:t>
            </a:r>
            <a:r>
              <a:rPr lang="en">
                <a:solidFill>
                  <a:srgbClr val="1155CC"/>
                </a:solidFill>
              </a:rPr>
              <a:t> Layer: Data Modeling</a:t>
            </a:r>
            <a:endParaRPr/>
          </a:p>
        </p:txBody>
      </p:sp>
      <p:pic>
        <p:nvPicPr>
          <p:cNvPr id="206" name="Google Shape;206;p27" title="fact vs di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0000"/>
            <a:ext cx="3921602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/>
        </p:nvSpPr>
        <p:spPr>
          <a:xfrm>
            <a:off x="4742450" y="1303425"/>
            <a:ext cx="4089900" cy="3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Star Schema Architecture</a:t>
            </a:r>
            <a:r>
              <a:rPr lang="en" sz="1100">
                <a:solidFill>
                  <a:schemeClr val="dk1"/>
                </a:solidFill>
              </a:rPr>
              <a:t>: Developed a high-performance Star Schema that decouples metrics (Fact tables) from descriptive attributes (Dimension tables) to optimize BI tool performance.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Unified Fact Tables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Marketing Performance</a:t>
            </a:r>
            <a:r>
              <a:rPr lang="en" sz="1100">
                <a:solidFill>
                  <a:schemeClr val="dk1"/>
                </a:solidFill>
              </a:rPr>
              <a:t>: Consolidated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fact_ads_daily_campaign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fact_crm_daily_campaign</a:t>
            </a:r>
            <a:r>
              <a:rPr lang="en" sz="1100">
                <a:solidFill>
                  <a:schemeClr val="dk1"/>
                </a:solidFill>
              </a:rPr>
              <a:t> at a standardized grain (Date, Campaign, Platform) for seamless ROI analysis.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Granular Orders</a:t>
            </a:r>
            <a:r>
              <a:rPr lang="en" sz="1100">
                <a:solidFill>
                  <a:schemeClr val="dk1"/>
                </a:solidFill>
              </a:rPr>
              <a:t>: Maintained an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orders_fact</a:t>
            </a:r>
            <a:r>
              <a:rPr lang="en" sz="1100">
                <a:solidFill>
                  <a:schemeClr val="dk1"/>
                </a:solidFill>
              </a:rPr>
              <a:t> table to allow for transactional auditing and revenue quality tracking.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Shared Dimensions (Conformed Dimensions)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dim_campaign</a:t>
            </a:r>
            <a:r>
              <a:rPr b="1" lang="en" sz="1100">
                <a:solidFill>
                  <a:schemeClr val="dk1"/>
                </a:solidFill>
              </a:rPr>
              <a:t> &amp;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dim_customer</a:t>
            </a:r>
            <a:r>
              <a:rPr lang="en" sz="1100">
                <a:solidFill>
                  <a:schemeClr val="dk1"/>
                </a:solidFill>
              </a:rPr>
              <a:t>: Centralized campaign and customer metadata to ensure consistent reporting across all business units.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1155CC"/>
                </a:solidFill>
              </a:rPr>
              <a:t>Marts Layer: Attribution Lag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2764275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Issue:</a:t>
            </a:r>
            <a:r>
              <a:rPr lang="en" sz="1400">
                <a:solidFill>
                  <a:schemeClr val="dk1"/>
                </a:solidFill>
              </a:rPr>
              <a:t> Some customers convert </a:t>
            </a:r>
            <a:r>
              <a:rPr lang="en" sz="1400">
                <a:solidFill>
                  <a:schemeClr val="dk1"/>
                </a:solidFill>
              </a:rPr>
              <a:t>several</a:t>
            </a:r>
            <a:r>
              <a:rPr lang="en" sz="1400">
                <a:solidFill>
                  <a:schemeClr val="dk1"/>
                </a:solidFill>
              </a:rPr>
              <a:t> days after initial ad exposure, leading to "orphan" revenue in CRM that cannot be linked to ad spend.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Solution:</a:t>
            </a:r>
            <a:r>
              <a:rPr lang="en" sz="1400">
                <a:solidFill>
                  <a:schemeClr val="dk1"/>
                </a:solidFill>
              </a:rPr>
              <a:t> Provide both Daily and Rolling 7 Day views. </a:t>
            </a:r>
            <a:r>
              <a:rPr lang="en" sz="1400">
                <a:solidFill>
                  <a:schemeClr val="dk1"/>
                </a:solidFill>
              </a:rPr>
              <a:t>This helps smooth short-term volatility and better reflects long-term performance.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Value:</a:t>
            </a:r>
            <a:r>
              <a:rPr lang="en" sz="1400">
                <a:solidFill>
                  <a:schemeClr val="dk1"/>
                </a:solidFill>
              </a:rPr>
              <a:t> Captures delayed conversions, providing a true reflection of campaign long-term performance.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14" name="Google Shape;214;p28" title="截屏2026-02-09 18.28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650" y="1441778"/>
            <a:ext cx="4588813" cy="445457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3483599" y="1343775"/>
            <a:ext cx="1658400" cy="641400"/>
          </a:xfrm>
          <a:prstGeom prst="rect">
            <a:avLst/>
          </a:prstGeom>
          <a:noFill/>
          <a:ln cap="flat" cmpd="sng" w="12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25" lIns="60225" spcFirstLastPara="1" rIns="60225" wrap="square" tIns="60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2"/>
          </a:p>
        </p:txBody>
      </p:sp>
      <p:pic>
        <p:nvPicPr>
          <p:cNvPr id="216" name="Google Shape;216;p28" title="截屏2026-02-09 18.35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9450" y="984375"/>
            <a:ext cx="2499050" cy="136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8"/>
          <p:cNvCxnSpPr>
            <a:stCxn id="215" idx="3"/>
            <a:endCxn id="216" idx="1"/>
          </p:cNvCxnSpPr>
          <p:nvPr/>
        </p:nvCxnSpPr>
        <p:spPr>
          <a:xfrm>
            <a:off x="5141999" y="1664475"/>
            <a:ext cx="937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8"/>
          <p:cNvSpPr/>
          <p:nvPr/>
        </p:nvSpPr>
        <p:spPr>
          <a:xfrm>
            <a:off x="6079450" y="1215200"/>
            <a:ext cx="2595300" cy="1129500"/>
          </a:xfrm>
          <a:prstGeom prst="rect">
            <a:avLst/>
          </a:prstGeom>
          <a:noFill/>
          <a:ln cap="flat" cmpd="sng" w="125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25" lIns="60225" spcFirstLastPara="1" rIns="60225" wrap="square" tIns="60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2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1155CC"/>
                </a:solidFill>
              </a:rPr>
              <a:t>Marts: ROI Tables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>
            <a:off x="3436380" y="2988702"/>
            <a:ext cx="870300" cy="0"/>
          </a:xfrm>
          <a:prstGeom prst="straightConnector1">
            <a:avLst/>
          </a:prstGeom>
          <a:noFill/>
          <a:ln cap="flat" cmpd="sng" w="26650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25" name="Google Shape;225;p29" title="截屏2026-02-10 13.57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865900"/>
            <a:ext cx="3321335" cy="219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 title="截屏2026-02-10 13.59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612" y="2311004"/>
            <a:ext cx="4681534" cy="149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311700" y="1335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20">
                <a:solidFill>
                  <a:srgbClr val="1155CC"/>
                </a:solidFill>
              </a:rPr>
              <a:t>Data Quality </a:t>
            </a:r>
            <a:r>
              <a:rPr b="1" lang="en" sz="3420">
                <a:solidFill>
                  <a:srgbClr val="1155CC"/>
                </a:solidFill>
              </a:rPr>
              <a:t>Strategy</a:t>
            </a:r>
            <a:endParaRPr b="1" sz="3420">
              <a:solidFill>
                <a:srgbClr val="1155CC"/>
              </a:solidFill>
            </a:endParaRPr>
          </a:p>
        </p:txBody>
      </p:sp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293350" y="2322600"/>
            <a:ext cx="45573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Double Layer Data Cleaning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Revenue Reconciliation 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>
                <a:solidFill>
                  <a:schemeClr val="dk1"/>
                </a:solidFill>
              </a:rPr>
              <a:t>dbt</a:t>
            </a:r>
            <a:r>
              <a:rPr lang="en" sz="2200">
                <a:solidFill>
                  <a:schemeClr val="dk1"/>
                </a:solidFill>
              </a:rPr>
              <a:t> Test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1" title="截屏2026-02-09 20.31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250" y="1170125"/>
            <a:ext cx="7187949" cy="333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Data Quality Strategy - Double Layer Data Cleaning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2113175" y="3630850"/>
            <a:ext cx="3248400" cy="876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Data Quality Strategy - </a:t>
            </a:r>
            <a:r>
              <a:rPr lang="en">
                <a:solidFill>
                  <a:srgbClr val="1155CC"/>
                </a:solidFill>
              </a:rPr>
              <a:t>Revenue Reconciliation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5427025" y="1733225"/>
            <a:ext cx="3101100" cy="26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Deduplication Logic: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 subtracting identified duplicates from raw revenue via SELECT DISTINCT and set logic, the pipeline ensures that </a:t>
            </a:r>
            <a:r>
              <a:rPr b="1" i="1" lang="en">
                <a:solidFill>
                  <a:srgbClr val="1155CC"/>
                </a:solidFill>
              </a:rPr>
              <a:t>SUM(raw) - </a:t>
            </a:r>
            <a:r>
              <a:rPr b="1" i="1" lang="en">
                <a:solidFill>
                  <a:srgbClr val="1155CC"/>
                </a:solidFill>
              </a:rPr>
              <a:t>SUM(dedup) = SUM(dup)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Value: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Guaranteed data integrity where every dollar is accounted for, categorized, and verified.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259508" y="1733225"/>
            <a:ext cx="855300" cy="114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8"/>
              <a:t>Staging</a:t>
            </a:r>
            <a:endParaRPr sz="1148"/>
          </a:p>
        </p:txBody>
      </p:sp>
      <p:sp>
        <p:nvSpPr>
          <p:cNvPr id="247" name="Google Shape;247;p32"/>
          <p:cNvSpPr/>
          <p:nvPr/>
        </p:nvSpPr>
        <p:spPr>
          <a:xfrm>
            <a:off x="1832832" y="1733225"/>
            <a:ext cx="855300" cy="1143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8"/>
              <a:t>Cleansed</a:t>
            </a:r>
            <a:endParaRPr sz="1148"/>
          </a:p>
        </p:txBody>
      </p:sp>
      <p:sp>
        <p:nvSpPr>
          <p:cNvPr id="248" name="Google Shape;248;p32"/>
          <p:cNvSpPr/>
          <p:nvPr/>
        </p:nvSpPr>
        <p:spPr>
          <a:xfrm>
            <a:off x="181200" y="3258725"/>
            <a:ext cx="1011900" cy="469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"/>
              <a:t>SUM(raw_revenue)</a:t>
            </a:r>
            <a:endParaRPr sz="738"/>
          </a:p>
        </p:txBody>
      </p:sp>
      <p:sp>
        <p:nvSpPr>
          <p:cNvPr id="249" name="Google Shape;249;p32"/>
          <p:cNvSpPr/>
          <p:nvPr/>
        </p:nvSpPr>
        <p:spPr>
          <a:xfrm>
            <a:off x="1668286" y="3258734"/>
            <a:ext cx="1184400" cy="469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"/>
              <a:t>SUM(dedup_revenue)</a:t>
            </a:r>
            <a:endParaRPr sz="738"/>
          </a:p>
        </p:txBody>
      </p:sp>
      <p:sp>
        <p:nvSpPr>
          <p:cNvPr id="250" name="Google Shape;250;p32"/>
          <p:cNvSpPr/>
          <p:nvPr/>
        </p:nvSpPr>
        <p:spPr>
          <a:xfrm>
            <a:off x="3582300" y="3258725"/>
            <a:ext cx="1115100" cy="469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975" lIns="74975" spcFirstLastPara="1" rIns="74975" wrap="square" tIns="74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8"/>
              <a:t>SUM(dup_revenue)</a:t>
            </a:r>
            <a:endParaRPr sz="738"/>
          </a:p>
        </p:txBody>
      </p:sp>
      <p:cxnSp>
        <p:nvCxnSpPr>
          <p:cNvPr id="251" name="Google Shape;251;p32"/>
          <p:cNvCxnSpPr>
            <a:stCxn id="246" idx="2"/>
            <a:endCxn id="248" idx="0"/>
          </p:cNvCxnSpPr>
          <p:nvPr/>
        </p:nvCxnSpPr>
        <p:spPr>
          <a:xfrm flipH="1" rot="-5400000">
            <a:off x="496358" y="3067325"/>
            <a:ext cx="3822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p32"/>
          <p:cNvCxnSpPr>
            <a:stCxn id="247" idx="2"/>
            <a:endCxn id="249" idx="0"/>
          </p:cNvCxnSpPr>
          <p:nvPr/>
        </p:nvCxnSpPr>
        <p:spPr>
          <a:xfrm>
            <a:off x="2260482" y="2876525"/>
            <a:ext cx="0" cy="38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32"/>
          <p:cNvSpPr/>
          <p:nvPr/>
        </p:nvSpPr>
        <p:spPr>
          <a:xfrm>
            <a:off x="1243250" y="3328175"/>
            <a:ext cx="358800" cy="330900"/>
          </a:xfrm>
          <a:prstGeom prst="mathMinus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"/>
          <p:cNvSpPr/>
          <p:nvPr/>
        </p:nvSpPr>
        <p:spPr>
          <a:xfrm>
            <a:off x="2969044" y="3363575"/>
            <a:ext cx="358800" cy="26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Data Quality Strategy - </a:t>
            </a:r>
            <a:r>
              <a:rPr lang="en">
                <a:solidFill>
                  <a:srgbClr val="1155CC"/>
                </a:solidFill>
              </a:rPr>
              <a:t>dbt Test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260" name="Google Shape;260;p33" title="Blank diagram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580439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155CC"/>
                </a:solidFill>
              </a:rPr>
              <a:t>Trade Offs &amp; </a:t>
            </a:r>
            <a:r>
              <a:rPr lang="en">
                <a:solidFill>
                  <a:srgbClr val="1155CC"/>
                </a:solidFill>
              </a:rPr>
              <a:t>Things to improve with more time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66" name="Google Shape;266;p34"/>
          <p:cNvSpPr txBox="1"/>
          <p:nvPr>
            <p:ph idx="1" type="body"/>
          </p:nvPr>
        </p:nvSpPr>
        <p:spPr>
          <a:xfrm>
            <a:off x="311700" y="1152475"/>
            <a:ext cx="8520600" cy="3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Trade Offs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Full Refresh:</a:t>
            </a:r>
            <a:r>
              <a:rPr lang="en" sz="1300">
                <a:solidFill>
                  <a:schemeClr val="dk1"/>
                </a:solidFill>
              </a:rPr>
              <a:t> Currently uses </a:t>
            </a:r>
            <a:r>
              <a:rPr lang="en" sz="1300">
                <a:solidFill>
                  <a:srgbClr val="188038"/>
                </a:solidFill>
              </a:rPr>
              <a:t>if_exists='replace'</a:t>
            </a:r>
            <a:r>
              <a:rPr lang="en" sz="1300">
                <a:solidFill>
                  <a:schemeClr val="dk1"/>
                </a:solidFill>
              </a:rPr>
              <a:t> and full dbt refreshes. This is simple and consistent for current data volumes but lacks scalability for millions of rows.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Outlier Processing:</a:t>
            </a:r>
            <a:r>
              <a:rPr lang="en" sz="1300">
                <a:solidFill>
                  <a:schemeClr val="dk1"/>
                </a:solidFill>
              </a:rPr>
              <a:t> Outliers are tagged but still processed by the DB. Ideally, these should be intercepted at the ingestion layer.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Things to improve with more time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Lakehouse Architecture:</a:t>
            </a:r>
            <a:r>
              <a:rPr lang="en" sz="1300">
                <a:solidFill>
                  <a:schemeClr val="dk1"/>
                </a:solidFill>
              </a:rPr>
              <a:t> Migrate to Delta Lake for unified batch/stream processing; Time Travel.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CI/CD:</a:t>
            </a:r>
            <a:r>
              <a:rPr lang="en" sz="1300">
                <a:solidFill>
                  <a:schemeClr val="dk1"/>
                </a:solidFill>
              </a:rPr>
              <a:t> Automate deployment pipelines with integrated unit and integration testing(dbt cloud).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Advanced Validation:</a:t>
            </a:r>
            <a:r>
              <a:rPr lang="en" sz="1300">
                <a:solidFill>
                  <a:schemeClr val="dk1"/>
                </a:solidFill>
              </a:rPr>
              <a:t> Cross-source checks (e.g., ensuring Ad Platform purchase_value doesn't exceed CRM total_revenue).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Alerting: </a:t>
            </a:r>
            <a:r>
              <a:rPr lang="en" sz="1300">
                <a:solidFill>
                  <a:schemeClr val="dk1"/>
                </a:solidFill>
              </a:rPr>
              <a:t>Deploy real-time monitoring for pipeline failures and significant revenue anomalies.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Business Logic Utils:</a:t>
            </a:r>
            <a:r>
              <a:rPr lang="en" sz="1300">
                <a:solidFill>
                  <a:schemeClr val="dk1"/>
                </a:solidFill>
              </a:rPr>
              <a:t> Decouple transformation logic into reusable modules to improve maintainability.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1155CC"/>
                </a:solidFill>
              </a:rPr>
              <a:t>The Ultimate Version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35" title="Copy of Blank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288" y="1017725"/>
            <a:ext cx="75534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820">
                <a:solidFill>
                  <a:srgbClr val="1155CC"/>
                </a:solidFill>
              </a:rPr>
              <a:t>Q&amp;A</a:t>
            </a:r>
            <a:endParaRPr b="1" sz="382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